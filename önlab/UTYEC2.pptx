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7" r:id="rId3"/>
    <p:sldId id="258" r:id="rId4"/>
    <p:sldId id="259" r:id="rId5"/>
    <p:sldId id="264" r:id="rId6"/>
    <p:sldId id="263" r:id="rId7"/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33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29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565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7698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673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857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0164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835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253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818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6072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2849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8014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3819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629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6235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9145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4484362-F61F-4DFE-AF07-951D61763203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62CFF0D-6B0C-4197-9293-1A1D6184594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1697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D8AA-1128-F764-D121-E04C0832E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7D2FB6-9DC4-21D4-5CDB-42FCF53D84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SNSPD </a:t>
            </a:r>
            <a:r>
              <a:rPr lang="hu-HU" dirty="0" err="1"/>
              <a:t>karakterizációja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6AF427F-37AF-E7A7-E330-4F48D6149E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Készítette: Fauszt Márk – UTYEC2</a:t>
            </a:r>
          </a:p>
          <a:p>
            <a:r>
              <a:rPr lang="hu-HU" dirty="0">
                <a:solidFill>
                  <a:schemeClr val="tx1"/>
                </a:solidFill>
              </a:rPr>
              <a:t>Önálló laboratórium</a:t>
            </a:r>
          </a:p>
        </p:txBody>
      </p:sp>
    </p:spTree>
    <p:extLst>
      <p:ext uri="{BB962C8B-B14F-4D97-AF65-F5344CB8AC3E}">
        <p14:creationId xmlns:p14="http://schemas.microsoft.com/office/powerpoint/2010/main" val="2157511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DAED94-7119-A5FA-41DA-2169FB806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51" y="282192"/>
            <a:ext cx="6019800" cy="1143000"/>
          </a:xfrm>
        </p:spPr>
        <p:txBody>
          <a:bodyPr/>
          <a:lstStyle/>
          <a:p>
            <a:r>
              <a:rPr lang="hu-HU" dirty="0"/>
              <a:t>Mi is az az SNSPD?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9A05A1C-FDA3-CD1C-473C-46D15B234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1150" y="1425192"/>
            <a:ext cx="6872986" cy="5045946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200" dirty="0" err="1">
                <a:solidFill>
                  <a:schemeClr val="tx1"/>
                </a:solidFill>
              </a:rPr>
              <a:t>Superconducting</a:t>
            </a:r>
            <a:r>
              <a:rPr lang="hu-HU" sz="2200" dirty="0">
                <a:solidFill>
                  <a:schemeClr val="tx1"/>
                </a:solidFill>
              </a:rPr>
              <a:t> </a:t>
            </a:r>
            <a:r>
              <a:rPr lang="hu-HU" sz="2200" dirty="0" err="1">
                <a:solidFill>
                  <a:schemeClr val="tx1"/>
                </a:solidFill>
              </a:rPr>
              <a:t>Nanowire</a:t>
            </a:r>
            <a:r>
              <a:rPr lang="hu-HU" sz="2200" dirty="0">
                <a:solidFill>
                  <a:schemeClr val="tx1"/>
                </a:solidFill>
              </a:rPr>
              <a:t> </a:t>
            </a:r>
            <a:r>
              <a:rPr lang="hu-HU" sz="2200" dirty="0" err="1">
                <a:solidFill>
                  <a:schemeClr val="tx1"/>
                </a:solidFill>
              </a:rPr>
              <a:t>Single</a:t>
            </a:r>
            <a:r>
              <a:rPr lang="hu-HU" sz="2200" dirty="0">
                <a:solidFill>
                  <a:schemeClr val="tx1"/>
                </a:solidFill>
              </a:rPr>
              <a:t>-Photon </a:t>
            </a:r>
            <a:r>
              <a:rPr lang="hu-HU" sz="2200" dirty="0" err="1">
                <a:solidFill>
                  <a:schemeClr val="tx1"/>
                </a:solidFill>
              </a:rPr>
              <a:t>Detector</a:t>
            </a:r>
            <a:r>
              <a:rPr lang="hu-HU" sz="2200" dirty="0">
                <a:solidFill>
                  <a:schemeClr val="tx1"/>
                </a:solidFill>
              </a:rPr>
              <a:t> (=Szupravezető </a:t>
            </a:r>
            <a:r>
              <a:rPr lang="hu-HU" sz="2200" dirty="0" err="1">
                <a:solidFill>
                  <a:schemeClr val="tx1"/>
                </a:solidFill>
              </a:rPr>
              <a:t>nanovezetékes</a:t>
            </a:r>
            <a:r>
              <a:rPr lang="hu-HU" sz="2200" dirty="0">
                <a:solidFill>
                  <a:schemeClr val="tx1"/>
                </a:solidFill>
              </a:rPr>
              <a:t> egyfotonos detektor)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200" dirty="0">
                <a:solidFill>
                  <a:schemeClr val="tx1"/>
                </a:solidFill>
              </a:rPr>
              <a:t>Működési elve: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</a:rPr>
              <a:t>Lehűtés szupravezetésig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</a:rPr>
              <a:t>Feszültség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</a:rPr>
              <a:t>Foton érkezése </a:t>
            </a:r>
            <a:r>
              <a:rPr lang="hu-HU" sz="1900" dirty="0">
                <a:solidFill>
                  <a:schemeClr val="tx1"/>
                </a:solidFill>
                <a:sym typeface="Wingdings" panose="05000000000000000000" pitchFamily="2" charset="2"/>
              </a:rPr>
              <a:t> felhevülés  szupravezetés elvesztése  érzékelhető feszültség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  <a:sym typeface="Wingdings" panose="05000000000000000000" pitchFamily="2" charset="2"/>
              </a:rPr>
              <a:t>Visszahűtés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200" dirty="0">
                <a:solidFill>
                  <a:schemeClr val="tx1"/>
                </a:solidFill>
                <a:sym typeface="Wingdings" panose="05000000000000000000" pitchFamily="2" charset="2"/>
              </a:rPr>
              <a:t>Felhasználása: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  <a:sym typeface="Wingdings" panose="05000000000000000000" pitchFamily="2" charset="2"/>
              </a:rPr>
              <a:t>Kvantumtechnológia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  <a:sym typeface="Wingdings" panose="05000000000000000000" pitchFamily="2" charset="2"/>
              </a:rPr>
              <a:t>Űrtechnika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  <a:sym typeface="Wingdings" panose="05000000000000000000" pitchFamily="2" charset="2"/>
              </a:rPr>
              <a:t>Orvostudomány</a:t>
            </a:r>
            <a:endParaRPr lang="hu-HU" sz="19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</a:rPr>
              <a:t>Részecskefizika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6863BBF-A48C-B791-2430-7598D6CA9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186" y="1991349"/>
            <a:ext cx="6056814" cy="391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C19E1-7812-12EC-877F-931DE15C7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C73B34-401E-155C-54F6-EB6A123B0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51" y="282192"/>
            <a:ext cx="6019800" cy="1143000"/>
          </a:xfrm>
        </p:spPr>
        <p:txBody>
          <a:bodyPr/>
          <a:lstStyle/>
          <a:p>
            <a:r>
              <a:rPr lang="hu-HU" dirty="0"/>
              <a:t>Milyen célt tűztem ki?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2D4E2BA-13F8-1A67-F8FD-53EC949F8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1151" y="1425192"/>
            <a:ext cx="6021388" cy="504594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tx1"/>
                </a:solidFill>
              </a:rPr>
              <a:t>A felhasználható SNSPD lehető legpontosabb megismerése és mérési hatékonyságának optimalizálása, megismerése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tx1"/>
                </a:solidFill>
              </a:rPr>
              <a:t>A hatásfok és a sötét zaj mérése feszültség függvényében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solidFill>
                  <a:schemeClr val="tx1"/>
                </a:solidFill>
              </a:rPr>
              <a:t>Segít: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</a:rPr>
              <a:t>Lehetséges mérési pontatlanságok meghatározása (sötét zaj, hatásfok, holtidő, polarizáció)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</a:rPr>
              <a:t>További mérések optimalizálása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tx1"/>
                </a:solidFill>
              </a:rPr>
              <a:t>Kész modellek hatékonyságának ellenőrzése</a:t>
            </a:r>
          </a:p>
        </p:txBody>
      </p:sp>
    </p:spTree>
    <p:extLst>
      <p:ext uri="{BB962C8B-B14F-4D97-AF65-F5344CB8AC3E}">
        <p14:creationId xmlns:p14="http://schemas.microsoft.com/office/powerpoint/2010/main" val="102256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C0DD9-8A5F-D2DA-E39B-E2948588F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3A83C9-36D6-6642-B1EC-F476E006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51" y="282192"/>
            <a:ext cx="6019800" cy="1143000"/>
          </a:xfrm>
        </p:spPr>
        <p:txBody>
          <a:bodyPr/>
          <a:lstStyle/>
          <a:p>
            <a:r>
              <a:rPr lang="hu-HU" dirty="0"/>
              <a:t>Az 1 évre szóló munka terv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E1CB2A4-0482-2F05-4A3B-970480E8F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1151" y="1425192"/>
            <a:ext cx="6021388" cy="504594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hu-HU" sz="2500" dirty="0">
                <a:solidFill>
                  <a:schemeClr val="tx1"/>
                </a:solidFill>
              </a:rPr>
              <a:t>Alap információk gyűjtése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500" dirty="0">
                <a:solidFill>
                  <a:schemeClr val="tx1"/>
                </a:solidFill>
              </a:rPr>
              <a:t>Modell építés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500" dirty="0">
                <a:solidFill>
                  <a:schemeClr val="tx1"/>
                </a:solidFill>
              </a:rPr>
              <a:t>Vezérlő írása és automatizálás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500" dirty="0">
                <a:solidFill>
                  <a:schemeClr val="tx1"/>
                </a:solidFill>
              </a:rPr>
              <a:t>Mérési adatok gyűjtése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500" dirty="0">
                <a:solidFill>
                  <a:schemeClr val="tx1"/>
                </a:solidFill>
              </a:rPr>
              <a:t>Mérési adatok kiértékelése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500" dirty="0">
                <a:solidFill>
                  <a:schemeClr val="tx1"/>
                </a:solidFill>
              </a:rPr>
              <a:t>Konklúzió levonása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500" dirty="0">
                <a:solidFill>
                  <a:schemeClr val="tx1"/>
                </a:solidFill>
              </a:rPr>
              <a:t>Dokumentálás</a:t>
            </a:r>
          </a:p>
        </p:txBody>
      </p: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91DD1BED-B7DF-5EB2-2B6C-2B66A9075FCD}"/>
              </a:ext>
            </a:extLst>
          </p:cNvPr>
          <p:cNvGrpSpPr/>
          <p:nvPr/>
        </p:nvGrpSpPr>
        <p:grpSpPr>
          <a:xfrm>
            <a:off x="5546007" y="2568192"/>
            <a:ext cx="3493008" cy="369332"/>
            <a:chOff x="3730752" y="3430743"/>
            <a:chExt cx="3493008" cy="369332"/>
          </a:xfrm>
        </p:grpSpPr>
        <p:sp>
          <p:nvSpPr>
            <p:cNvPr id="3" name="Nyíl: balra mutató 2">
              <a:extLst>
                <a:ext uri="{FF2B5EF4-FFF2-40B4-BE49-F238E27FC236}">
                  <a16:creationId xmlns:a16="http://schemas.microsoft.com/office/drawing/2014/main" id="{6B8994BD-C5C1-AE1E-EC8B-68CAC66E98C3}"/>
                </a:ext>
              </a:extLst>
            </p:cNvPr>
            <p:cNvSpPr/>
            <p:nvPr/>
          </p:nvSpPr>
          <p:spPr>
            <a:xfrm>
              <a:off x="3730752" y="3520440"/>
              <a:ext cx="1133856" cy="192024"/>
            </a:xfrm>
            <a:prstGeom prst="lef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AC87A89B-A555-973F-202B-A6DCEC371742}"/>
                </a:ext>
              </a:extLst>
            </p:cNvPr>
            <p:cNvSpPr txBox="1"/>
            <p:nvPr/>
          </p:nvSpPr>
          <p:spPr>
            <a:xfrm>
              <a:off x="4864608" y="3430743"/>
              <a:ext cx="2359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Jelenleg itt tartok</a:t>
              </a:r>
            </a:p>
          </p:txBody>
        </p:sp>
      </p:grpSp>
      <p:pic>
        <p:nvPicPr>
          <p:cNvPr id="1026" name="Picture 2" descr="Üzleti terv készítése - Napitender">
            <a:extLst>
              <a:ext uri="{FF2B5EF4-FFF2-40B4-BE49-F238E27FC236}">
                <a16:creationId xmlns:a16="http://schemas.microsoft.com/office/drawing/2014/main" id="{D1E612A4-BFE9-4785-CE2D-D53B80CF2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900" y="3212627"/>
            <a:ext cx="4957187" cy="3464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Üzleti terv minta vállalkozás indításhoz - DLX MEDIA">
            <a:extLst>
              <a:ext uri="{FF2B5EF4-FFF2-40B4-BE49-F238E27FC236}">
                <a16:creationId xmlns:a16="http://schemas.microsoft.com/office/drawing/2014/main" id="{DE5215BA-27C8-3B38-6B06-E58EFA9411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4"/>
          <a:stretch>
            <a:fillRect/>
          </a:stretch>
        </p:blipFill>
        <p:spPr bwMode="auto">
          <a:xfrm>
            <a:off x="9354989" y="398586"/>
            <a:ext cx="1554196" cy="183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17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1A503-E94E-167B-7F96-7E1F496C0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88D14F-B150-E86F-B96D-4FE476169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51" y="282192"/>
            <a:ext cx="6019800" cy="1143000"/>
          </a:xfrm>
        </p:spPr>
        <p:txBody>
          <a:bodyPr/>
          <a:lstStyle/>
          <a:p>
            <a:r>
              <a:rPr lang="hu-HU" dirty="0"/>
              <a:t>Fejlesztés és kódolás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D66C371-1D2C-30C1-A115-136322B57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1151" y="1425192"/>
            <a:ext cx="6021388" cy="504594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500" dirty="0">
                <a:solidFill>
                  <a:schemeClr val="tx1"/>
                </a:solidFill>
              </a:rPr>
              <a:t>GUI - adatok bevitelére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</a:rPr>
              <a:t>Feszültség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</a:rPr>
              <a:t>Csillapítás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</a:rPr>
              <a:t>Később (</a:t>
            </a:r>
            <a:r>
              <a:rPr lang="hu-HU" sz="1900" dirty="0" err="1">
                <a:solidFill>
                  <a:schemeClr val="tx1"/>
                </a:solidFill>
              </a:rPr>
              <a:t>áramerrősség</a:t>
            </a:r>
            <a:r>
              <a:rPr lang="hu-HU" sz="1900" dirty="0">
                <a:solidFill>
                  <a:schemeClr val="tx1"/>
                </a:solidFill>
              </a:rPr>
              <a:t>, fényforrás)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</a:rPr>
              <a:t>Adat gyűjtés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500" dirty="0">
                <a:solidFill>
                  <a:schemeClr val="tx1"/>
                </a:solidFill>
              </a:rPr>
              <a:t>Táp egység vezérlés tesztelő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900" dirty="0" err="1">
                <a:solidFill>
                  <a:schemeClr val="tx1"/>
                </a:solidFill>
              </a:rPr>
              <a:t>Console</a:t>
            </a:r>
            <a:r>
              <a:rPr lang="hu-HU" sz="1900" dirty="0">
                <a:solidFill>
                  <a:schemeClr val="tx1"/>
                </a:solidFill>
              </a:rPr>
              <a:t> parancsok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sz="1900" dirty="0">
                <a:solidFill>
                  <a:schemeClr val="tx1"/>
                </a:solidFill>
              </a:rPr>
              <a:t>Gyors tesztelés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E1822535-5EE4-3596-78FF-0C1FE4AD6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685" y="566928"/>
            <a:ext cx="7051315" cy="572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5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3FC53D-9734-366D-29D8-AE6AEBB6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344" y="220397"/>
            <a:ext cx="8534400" cy="1507067"/>
          </a:xfrm>
        </p:spPr>
        <p:txBody>
          <a:bodyPr>
            <a:normAutofit fontScale="90000"/>
          </a:bodyPr>
          <a:lstStyle/>
          <a:p>
            <a:pPr algn="ctr"/>
            <a:r>
              <a:rPr lang="hu-HU" dirty="0"/>
              <a:t>Milyen problémákkal találkoztam és milyen megoldásokat találtam?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77F548C-59EB-70C0-8006-523CC5F96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5225" y="1636776"/>
            <a:ext cx="4649787" cy="576262"/>
          </a:xfrm>
        </p:spPr>
        <p:txBody>
          <a:bodyPr/>
          <a:lstStyle/>
          <a:p>
            <a:r>
              <a:rPr lang="hu-HU" dirty="0"/>
              <a:t>Problémák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FEFCDC0-F056-B138-A484-7071928C2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357" y="2213038"/>
            <a:ext cx="4937655" cy="4319842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Kevés információ az eszközről</a:t>
            </a:r>
          </a:p>
          <a:p>
            <a:pPr>
              <a:lnSpc>
                <a:spcPct val="200000"/>
              </a:lnSpc>
            </a:pPr>
            <a:r>
              <a:rPr lang="hu-HU" dirty="0">
                <a:solidFill>
                  <a:schemeClr val="tx1"/>
                </a:solidFill>
              </a:rPr>
              <a:t>Csak ZMQ kommunikáció</a:t>
            </a:r>
          </a:p>
          <a:p>
            <a:r>
              <a:rPr lang="hu-HU" dirty="0">
                <a:solidFill>
                  <a:schemeClr val="tx1"/>
                </a:solidFill>
              </a:rPr>
              <a:t>Tápegység IP </a:t>
            </a:r>
            <a:r>
              <a:rPr lang="hu-HU" dirty="0" err="1">
                <a:solidFill>
                  <a:schemeClr val="tx1"/>
                </a:solidFill>
              </a:rPr>
              <a:t>configuráció</a:t>
            </a:r>
            <a:endParaRPr lang="hu-HU" dirty="0">
              <a:solidFill>
                <a:schemeClr val="tx1"/>
              </a:solidFill>
            </a:endParaRPr>
          </a:p>
          <a:p>
            <a:r>
              <a:rPr lang="hu-HU" dirty="0">
                <a:solidFill>
                  <a:schemeClr val="tx1"/>
                </a:solidFill>
              </a:rPr>
              <a:t>Rövid USB kábel</a:t>
            </a:r>
          </a:p>
          <a:p>
            <a:r>
              <a:rPr lang="hu-HU" dirty="0">
                <a:solidFill>
                  <a:schemeClr val="tx1"/>
                </a:solidFill>
              </a:rPr>
              <a:t>Port kezelés vagy </a:t>
            </a:r>
            <a:r>
              <a:rPr lang="hu-HU" dirty="0" err="1">
                <a:solidFill>
                  <a:schemeClr val="tx1"/>
                </a:solidFill>
              </a:rPr>
              <a:t>windows</a:t>
            </a:r>
            <a:endParaRPr lang="hu-HU" dirty="0">
              <a:solidFill>
                <a:schemeClr val="tx1"/>
              </a:solidFill>
            </a:endParaRPr>
          </a:p>
          <a:p>
            <a:r>
              <a:rPr lang="hu-HU" dirty="0">
                <a:solidFill>
                  <a:schemeClr val="tx1"/>
                </a:solidFill>
              </a:rPr>
              <a:t>Tápegység feszültség kiadása</a:t>
            </a:r>
          </a:p>
          <a:p>
            <a:pPr marL="0" indent="0" algn="ctr">
              <a:buNone/>
            </a:pPr>
            <a:endParaRPr lang="hu-HU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hu-HU" dirty="0">
                <a:solidFill>
                  <a:schemeClr val="tx1"/>
                </a:solidFill>
              </a:rPr>
              <a:t>A jövő kifürkészhetetlen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AD8664D-3DA6-75AC-D680-5313FFC88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9066" y="1636776"/>
            <a:ext cx="4665134" cy="576262"/>
          </a:xfrm>
        </p:spPr>
        <p:txBody>
          <a:bodyPr/>
          <a:lstStyle/>
          <a:p>
            <a:r>
              <a:rPr lang="hu-HU" dirty="0"/>
              <a:t>Megoldások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6016CCA-C4AB-7612-DFBF-CCBD313FFB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15012" y="2213038"/>
            <a:ext cx="4929188" cy="4319842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Mélyebb keresés, tesztelés</a:t>
            </a:r>
          </a:p>
          <a:p>
            <a:r>
              <a:rPr lang="hu-HU" dirty="0">
                <a:solidFill>
                  <a:schemeClr val="tx1"/>
                </a:solidFill>
              </a:rPr>
              <a:t>Két féle kommunikációs technológia</a:t>
            </a:r>
          </a:p>
          <a:p>
            <a:r>
              <a:rPr lang="hu-HU" dirty="0">
                <a:solidFill>
                  <a:schemeClr val="tx1"/>
                </a:solidFill>
              </a:rPr>
              <a:t>USB kábelen való vezérlés</a:t>
            </a:r>
          </a:p>
          <a:p>
            <a:r>
              <a:rPr lang="hu-HU" dirty="0">
                <a:solidFill>
                  <a:schemeClr val="tx1"/>
                </a:solidFill>
              </a:rPr>
              <a:t>Helyileg ott kell lenni</a:t>
            </a:r>
          </a:p>
          <a:p>
            <a:r>
              <a:rPr lang="hu-HU" dirty="0">
                <a:solidFill>
                  <a:schemeClr val="tx1"/>
                </a:solidFill>
              </a:rPr>
              <a:t>Bent lévő laptop használata</a:t>
            </a:r>
          </a:p>
          <a:p>
            <a:r>
              <a:rPr lang="hu-HU" dirty="0"/>
              <a:t>🤷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9" name="Nyíl: jobbra mutató 8">
            <a:extLst>
              <a:ext uri="{FF2B5EF4-FFF2-40B4-BE49-F238E27FC236}">
                <a16:creationId xmlns:a16="http://schemas.microsoft.com/office/drawing/2014/main" id="{78FCBED4-AE8C-A269-E101-3E43EE6BC59E}"/>
              </a:ext>
            </a:extLst>
          </p:cNvPr>
          <p:cNvSpPr/>
          <p:nvPr/>
        </p:nvSpPr>
        <p:spPr>
          <a:xfrm>
            <a:off x="4965192" y="2303726"/>
            <a:ext cx="1113874" cy="2840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Nyíl: jobbra mutató 9">
            <a:extLst>
              <a:ext uri="{FF2B5EF4-FFF2-40B4-BE49-F238E27FC236}">
                <a16:creationId xmlns:a16="http://schemas.microsoft.com/office/drawing/2014/main" id="{F52C03BC-F3E3-7B22-D969-EF4987A3CC76}"/>
              </a:ext>
            </a:extLst>
          </p:cNvPr>
          <p:cNvSpPr/>
          <p:nvPr/>
        </p:nvSpPr>
        <p:spPr>
          <a:xfrm>
            <a:off x="4982126" y="2698612"/>
            <a:ext cx="1113874" cy="2840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Nyíl: jobbra mutató 10">
            <a:extLst>
              <a:ext uri="{FF2B5EF4-FFF2-40B4-BE49-F238E27FC236}">
                <a16:creationId xmlns:a16="http://schemas.microsoft.com/office/drawing/2014/main" id="{F0FF32C8-32ED-1912-6897-84F62253AE29}"/>
              </a:ext>
            </a:extLst>
          </p:cNvPr>
          <p:cNvSpPr/>
          <p:nvPr/>
        </p:nvSpPr>
        <p:spPr>
          <a:xfrm>
            <a:off x="4982126" y="3470490"/>
            <a:ext cx="1113874" cy="2840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Nyíl: jobbra mutató 11">
            <a:extLst>
              <a:ext uri="{FF2B5EF4-FFF2-40B4-BE49-F238E27FC236}">
                <a16:creationId xmlns:a16="http://schemas.microsoft.com/office/drawing/2014/main" id="{FD5D3BFA-7542-4733-1C75-24D9BFBAF918}"/>
              </a:ext>
            </a:extLst>
          </p:cNvPr>
          <p:cNvSpPr/>
          <p:nvPr/>
        </p:nvSpPr>
        <p:spPr>
          <a:xfrm>
            <a:off x="4965192" y="3901576"/>
            <a:ext cx="1113874" cy="2840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Nyíl: jobbra mutató 12">
            <a:extLst>
              <a:ext uri="{FF2B5EF4-FFF2-40B4-BE49-F238E27FC236}">
                <a16:creationId xmlns:a16="http://schemas.microsoft.com/office/drawing/2014/main" id="{5D1B9FA0-786C-711E-2E48-69BF35151A0A}"/>
              </a:ext>
            </a:extLst>
          </p:cNvPr>
          <p:cNvSpPr/>
          <p:nvPr/>
        </p:nvSpPr>
        <p:spPr>
          <a:xfrm>
            <a:off x="4965192" y="4363815"/>
            <a:ext cx="1113874" cy="2840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Nyíl: jobbra mutató 13">
            <a:extLst>
              <a:ext uri="{FF2B5EF4-FFF2-40B4-BE49-F238E27FC236}">
                <a16:creationId xmlns:a16="http://schemas.microsoft.com/office/drawing/2014/main" id="{846A70EB-8327-999A-3D4B-51B5C7F0981B}"/>
              </a:ext>
            </a:extLst>
          </p:cNvPr>
          <p:cNvSpPr/>
          <p:nvPr/>
        </p:nvSpPr>
        <p:spPr>
          <a:xfrm>
            <a:off x="4982126" y="4775170"/>
            <a:ext cx="1113874" cy="2840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D74D184A-B794-68B0-7029-563C9CE72F4E}"/>
              </a:ext>
            </a:extLst>
          </p:cNvPr>
          <p:cNvCxnSpPr/>
          <p:nvPr/>
        </p:nvCxnSpPr>
        <p:spPr>
          <a:xfrm flipH="1">
            <a:off x="3364992" y="3754519"/>
            <a:ext cx="3044952" cy="26884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AE1AE08F-399D-DA43-8DBB-689AFDC264BE}"/>
              </a:ext>
            </a:extLst>
          </p:cNvPr>
          <p:cNvCxnSpPr>
            <a:cxnSpLocks/>
          </p:cNvCxnSpPr>
          <p:nvPr/>
        </p:nvCxnSpPr>
        <p:spPr>
          <a:xfrm flipH="1">
            <a:off x="4590002" y="4227846"/>
            <a:ext cx="2167128" cy="1701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01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7B8413-A19C-2956-2BB0-C0ECE3C97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5500" y="685799"/>
            <a:ext cx="8001000" cy="2971801"/>
          </a:xfrm>
        </p:spPr>
        <p:txBody>
          <a:bodyPr/>
          <a:lstStyle/>
          <a:p>
            <a:pPr algn="ctr"/>
            <a:r>
              <a:rPr lang="hu-HU" dirty="0"/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3432843897"/>
      </p:ext>
    </p:extLst>
  </p:cSld>
  <p:clrMapOvr>
    <a:masterClrMapping/>
  </p:clrMapOvr>
</p:sld>
</file>

<file path=ppt/theme/theme1.xml><?xml version="1.0" encoding="utf-8"?>
<a:theme xmlns:a="http://schemas.openxmlformats.org/drawingml/2006/main" name="Szelet">
  <a:themeElements>
    <a:clrScheme name="Szelet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zele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ele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573</TotalTime>
  <Words>208</Words>
  <Application>Microsoft Office PowerPoint</Application>
  <PresentationFormat>Szélesvásznú</PresentationFormat>
  <Paragraphs>58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Szelet</vt:lpstr>
      <vt:lpstr>SNSPD karakterizációja</vt:lpstr>
      <vt:lpstr>Mi is az az SNSPD?</vt:lpstr>
      <vt:lpstr>Milyen célt tűztem ki?</vt:lpstr>
      <vt:lpstr>Az 1 évre szóló munka terv</vt:lpstr>
      <vt:lpstr>Fejlesztés és kódolás</vt:lpstr>
      <vt:lpstr>Milyen problémákkal találkoztam és milyen megoldásokat találtam?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Fauszt Márk</dc:creator>
  <cp:lastModifiedBy>Fauszt Márk</cp:lastModifiedBy>
  <cp:revision>3</cp:revision>
  <dcterms:created xsi:type="dcterms:W3CDTF">2026-06-01T18:55:33Z</dcterms:created>
  <dcterms:modified xsi:type="dcterms:W3CDTF">2026-06-02T16:12:30Z</dcterms:modified>
</cp:coreProperties>
</file>